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46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45172-DE48-4F4A-8605-A7A64706DE52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A641E-309F-4C26-B282-1A1AC0F72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6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F09A7-73A1-425B-B08E-6F993F55BD9D}" type="datetime1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13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F1B7B-DA90-4E02-880B-60FFDEF5D071}" type="datetime1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588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E7E9-642D-43CB-96C2-06A86C57A516}" type="datetime1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637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46E2-C211-40C1-A43B-A67F83DF579D}" type="datetime1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412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51FD6-8FE8-4088-A56A-7870AF438136}" type="datetime1">
              <a:rPr lang="en-GB" smtClean="0"/>
              <a:t>15/07/2026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184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C70F-1E32-44AF-845A-CABC64C0707F}" type="datetime1">
              <a:rPr lang="en-GB" smtClean="0"/>
              <a:t>15/07/2026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51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1BD5-6980-4A69-A6B2-33987AE1B088}" type="datetime1">
              <a:rPr lang="en-GB" smtClean="0"/>
              <a:t>15/07/2026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Mathematical Optimisation Project - Castelli, Grandi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468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94A0644-990C-4FA9-871A-69066A276915}" type="datetime1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Mathematical Optimisation Project - Castelli, Grandi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393694-562D-4093-A9B7-5B13DC8BF0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8892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45739-9BC0-45F0-8CB4-F3257BB15792}" type="datetime1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889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574E-D373-4BB8-BBFE-2680739A2155}" type="datetime1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95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E9D4-0CF8-48E9-821D-D10843F8BE09}" type="datetime1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58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17D24FA-A8BE-4D28-80CA-B66D8681358D}" type="datetime1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Mathematical Optimisation Project - Castelli, Grandi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D393694-562D-4093-A9B7-5B13DC8BF052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473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0305054825004010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2AA89-A7C3-E588-88FE-12F76B4BEF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sz="4000" dirty="0"/>
              <a:t>Optimization for the Home Healthcare Routing and Scheduling Problem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F64A3-43DF-AFA2-FD39-4A1939D5CC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cap="none" spc="50" dirty="0">
                <a:hlinkClick r:id="rId2"/>
              </a:rPr>
              <a:t>«A matheuristic for the home healthcare routing and scheduling problem with ferry-dependent travel times» </a:t>
            </a:r>
            <a:endParaRPr lang="en-GB" cap="none" spc="5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7D84E-E518-D2FE-0965-95B764EBC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E4A2E-5B3E-795F-305B-5ABFD9E7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</p:spTree>
    <p:extLst>
      <p:ext uri="{BB962C8B-B14F-4D97-AF65-F5344CB8AC3E}">
        <p14:creationId xmlns:p14="http://schemas.microsoft.com/office/powerpoint/2010/main" val="667145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851A1-AD4E-584A-5F3D-10C2E7E4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Problem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867E1-516F-B143-34E5-DEC0B18E3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Routing and scheduling a team of caregivers</a:t>
            </a:r>
          </a:p>
          <a:p>
            <a:r>
              <a:rPr lang="it-IT" dirty="0"/>
              <a:t>Minimize the sum of the route durations across all caregivers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89C5B-DCB5-2146-C87B-C2736FCA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54801-44E7-1E98-A398-1B3BF0109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</p:spTree>
    <p:extLst>
      <p:ext uri="{BB962C8B-B14F-4D97-AF65-F5344CB8AC3E}">
        <p14:creationId xmlns:p14="http://schemas.microsoft.com/office/powerpoint/2010/main" val="466889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90D612-CE5E-E7F2-E76A-F9208B142BCB}"/>
              </a:ext>
            </a:extLst>
          </p:cNvPr>
          <p:cNvSpPr/>
          <p:nvPr/>
        </p:nvSpPr>
        <p:spPr>
          <a:xfrm>
            <a:off x="4459200" y="2099094"/>
            <a:ext cx="3240000" cy="37841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180000" rtlCol="0" anchor="t" anchorCtr="0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Caregivers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24995-A9D2-699E-48FF-70BF1A919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Primary aspects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6BB151-DF9C-23C4-070E-F619673ABA53}"/>
              </a:ext>
            </a:extLst>
          </p:cNvPr>
          <p:cNvSpPr/>
          <p:nvPr/>
        </p:nvSpPr>
        <p:spPr>
          <a:xfrm>
            <a:off x="1219199" y="2099091"/>
            <a:ext cx="3240000" cy="37841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180000" rtlCol="0" anchor="t" anchorCtr="0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Geographical area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4B4E6-6960-D327-76F6-6F73B9C00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9D0FD-0348-671C-4906-F0111E63A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3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D0498E-E3B6-C49C-8435-654198EAE583}"/>
              </a:ext>
            </a:extLst>
          </p:cNvPr>
          <p:cNvSpPr/>
          <p:nvPr/>
        </p:nvSpPr>
        <p:spPr>
          <a:xfrm>
            <a:off x="7699200" y="2099092"/>
            <a:ext cx="3240000" cy="37841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180000" rtlCol="0" anchor="t" anchorCtr="0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Patients</a:t>
            </a:r>
            <a:endParaRPr lang="en-GB" b="1" dirty="0">
              <a:solidFill>
                <a:schemeClr val="tx1"/>
              </a:solidFill>
            </a:endParaRPr>
          </a:p>
        </p:txBody>
      </p:sp>
      <p:pic>
        <p:nvPicPr>
          <p:cNvPr id="11" name="Graphic 10" descr="Group of men outline">
            <a:extLst>
              <a:ext uri="{FF2B5EF4-FFF2-40B4-BE49-F238E27FC236}">
                <a16:creationId xmlns:a16="http://schemas.microsoft.com/office/drawing/2014/main" id="{658436BB-9B4D-69BA-E77F-8AE3399DAA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87000" y="2896203"/>
            <a:ext cx="979674" cy="979674"/>
          </a:xfrm>
          <a:prstGeom prst="rect">
            <a:avLst/>
          </a:prstGeom>
        </p:spPr>
      </p:pic>
      <p:pic>
        <p:nvPicPr>
          <p:cNvPr id="13" name="Graphic 12" descr="Care outline">
            <a:extLst>
              <a:ext uri="{FF2B5EF4-FFF2-40B4-BE49-F238E27FC236}">
                <a16:creationId xmlns:a16="http://schemas.microsoft.com/office/drawing/2014/main" id="{030C303B-5DBE-C616-247A-0A1BF57446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1725" y="2896202"/>
            <a:ext cx="1094949" cy="1094949"/>
          </a:xfrm>
          <a:prstGeom prst="rect">
            <a:avLst/>
          </a:prstGeom>
        </p:spPr>
      </p:pic>
      <p:pic>
        <p:nvPicPr>
          <p:cNvPr id="15" name="Graphic 14" descr="Map with pin outline">
            <a:extLst>
              <a:ext uri="{FF2B5EF4-FFF2-40B4-BE49-F238E27FC236}">
                <a16:creationId xmlns:a16="http://schemas.microsoft.com/office/drawing/2014/main" id="{3DDF2425-6159-F5D9-E959-FA2636F100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0649" y="2854051"/>
            <a:ext cx="1137101" cy="11371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0A299DB-ED3A-2C17-042F-0EFE0664A08C}"/>
              </a:ext>
            </a:extLst>
          </p:cNvPr>
          <p:cNvSpPr txBox="1"/>
          <p:nvPr/>
        </p:nvSpPr>
        <p:spPr>
          <a:xfrm>
            <a:off x="3221048" y="7533968"/>
            <a:ext cx="33449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Several regions, each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Set of patients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At least one ferry terminal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r>
              <a:rPr lang="it-IT" dirty="0"/>
              <a:t>Regions are connected by public ferries having fixed timetables</a:t>
            </a:r>
          </a:p>
        </p:txBody>
      </p:sp>
    </p:spTree>
    <p:extLst>
      <p:ext uri="{BB962C8B-B14F-4D97-AF65-F5344CB8AC3E}">
        <p14:creationId xmlns:p14="http://schemas.microsoft.com/office/powerpoint/2010/main" val="359929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9BB6F-6AAD-9087-D616-C7D0E5D9C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4FA427-E100-67DA-11C4-4D7F96FA62DB}"/>
              </a:ext>
            </a:extLst>
          </p:cNvPr>
          <p:cNvSpPr/>
          <p:nvPr/>
        </p:nvSpPr>
        <p:spPr>
          <a:xfrm>
            <a:off x="6824700" y="2099091"/>
            <a:ext cx="2088000" cy="37841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180000" rtlCol="0" anchor="t" anchorCtr="0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Caregivers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36D34D-5BDE-80FE-7F24-5FE76A687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Primary aspects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F10234-45A2-96BE-1DE5-495AB5287284}"/>
              </a:ext>
            </a:extLst>
          </p:cNvPr>
          <p:cNvSpPr/>
          <p:nvPr/>
        </p:nvSpPr>
        <p:spPr>
          <a:xfrm>
            <a:off x="1219198" y="2099091"/>
            <a:ext cx="5605501" cy="37841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180000" rtlCol="0" anchor="t" anchorCtr="0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Geographical area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B3966A-AD15-5522-B54B-DA4B28E38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BE041-8B7D-C217-F4E7-E6999BCA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4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DAA387-8BBD-456C-49BD-2B1A1F4B6104}"/>
              </a:ext>
            </a:extLst>
          </p:cNvPr>
          <p:cNvSpPr/>
          <p:nvPr/>
        </p:nvSpPr>
        <p:spPr>
          <a:xfrm>
            <a:off x="8887000" y="2099092"/>
            <a:ext cx="2088000" cy="37841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180000" rtlCol="0" anchor="t" anchorCtr="0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Patients</a:t>
            </a:r>
            <a:endParaRPr lang="en-GB" b="1" dirty="0">
              <a:solidFill>
                <a:schemeClr val="tx1"/>
              </a:solidFill>
            </a:endParaRPr>
          </a:p>
        </p:txBody>
      </p:sp>
      <p:pic>
        <p:nvPicPr>
          <p:cNvPr id="11" name="Graphic 10" descr="Group of men outline">
            <a:extLst>
              <a:ext uri="{FF2B5EF4-FFF2-40B4-BE49-F238E27FC236}">
                <a16:creationId xmlns:a16="http://schemas.microsoft.com/office/drawing/2014/main" id="{7DA7B7DC-2A6B-9EBD-4C5F-0A964F486F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64957" y="2896203"/>
            <a:ext cx="979674" cy="979674"/>
          </a:xfrm>
          <a:prstGeom prst="rect">
            <a:avLst/>
          </a:prstGeom>
        </p:spPr>
      </p:pic>
      <p:pic>
        <p:nvPicPr>
          <p:cNvPr id="13" name="Graphic 12" descr="Care outline">
            <a:extLst>
              <a:ext uri="{FF2B5EF4-FFF2-40B4-BE49-F238E27FC236}">
                <a16:creationId xmlns:a16="http://schemas.microsoft.com/office/drawing/2014/main" id="{E18ABF64-7468-AF57-6D05-216091C2A5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8675" y="2780928"/>
            <a:ext cx="1094949" cy="1094949"/>
          </a:xfrm>
          <a:prstGeom prst="rect">
            <a:avLst/>
          </a:prstGeom>
        </p:spPr>
      </p:pic>
      <p:pic>
        <p:nvPicPr>
          <p:cNvPr id="15" name="Graphic 14" descr="Map with pin outline">
            <a:extLst>
              <a:ext uri="{FF2B5EF4-FFF2-40B4-BE49-F238E27FC236}">
                <a16:creationId xmlns:a16="http://schemas.microsoft.com/office/drawing/2014/main" id="{D7A4A9BC-6809-EC6D-4B93-647C5C9D01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0928" y="2738776"/>
            <a:ext cx="1137101" cy="11371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D02E8F-AC4D-28E0-D1C1-21BAEF175FB4}"/>
              </a:ext>
            </a:extLst>
          </p:cNvPr>
          <p:cNvSpPr txBox="1"/>
          <p:nvPr/>
        </p:nvSpPr>
        <p:spPr>
          <a:xfrm>
            <a:off x="3221048" y="3038168"/>
            <a:ext cx="33449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Several regions, each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Set of patients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At least one ferry terminal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r>
              <a:rPr lang="it-IT" dirty="0"/>
              <a:t>Regions are connected by public ferries having fixed timetables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AA8754-93BE-5482-77D7-6E484120E144}"/>
              </a:ext>
            </a:extLst>
          </p:cNvPr>
          <p:cNvSpPr txBox="1"/>
          <p:nvPr/>
        </p:nvSpPr>
        <p:spPr>
          <a:xfrm>
            <a:off x="5232135" y="7230679"/>
            <a:ext cx="33449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Sequence of visits and ferry trips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Qualification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Time priority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29363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DEBEC-2D0F-0888-0687-59FCF7106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84719F-9AFD-C08E-292C-92F2BBA1E67A}"/>
              </a:ext>
            </a:extLst>
          </p:cNvPr>
          <p:cNvSpPr/>
          <p:nvPr/>
        </p:nvSpPr>
        <p:spPr>
          <a:xfrm>
            <a:off x="3739198" y="2099091"/>
            <a:ext cx="5173502" cy="37841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180000" rtlCol="0" anchor="t" anchorCtr="0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Caregivers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13F027-EE00-788D-2523-D80E3DB8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Primary aspects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6839FB-2400-BCF7-D6B7-AF4A96AA6129}"/>
              </a:ext>
            </a:extLst>
          </p:cNvPr>
          <p:cNvSpPr/>
          <p:nvPr/>
        </p:nvSpPr>
        <p:spPr>
          <a:xfrm>
            <a:off x="1219198" y="2099091"/>
            <a:ext cx="2520000" cy="37841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180000" rtlCol="0" anchor="t" anchorCtr="0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Geographical area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2CBC5B-CB3B-55E3-8CD2-C7DD09183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91AB4-3118-FA65-C8CB-25C185A8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5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F59FF5-8DCC-E757-C5AE-59EE12C4C50B}"/>
              </a:ext>
            </a:extLst>
          </p:cNvPr>
          <p:cNvSpPr/>
          <p:nvPr/>
        </p:nvSpPr>
        <p:spPr>
          <a:xfrm>
            <a:off x="8887000" y="2099092"/>
            <a:ext cx="2088000" cy="37841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180000" rtlCol="0" anchor="t" anchorCtr="0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Patients</a:t>
            </a:r>
            <a:endParaRPr lang="en-GB" b="1" dirty="0">
              <a:solidFill>
                <a:schemeClr val="tx1"/>
              </a:solidFill>
            </a:endParaRPr>
          </a:p>
        </p:txBody>
      </p:sp>
      <p:pic>
        <p:nvPicPr>
          <p:cNvPr id="11" name="Graphic 10" descr="Group of men outline">
            <a:extLst>
              <a:ext uri="{FF2B5EF4-FFF2-40B4-BE49-F238E27FC236}">
                <a16:creationId xmlns:a16="http://schemas.microsoft.com/office/drawing/2014/main" id="{5A59DF98-82B3-FA9D-C297-B7DBD8B46D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64957" y="2896203"/>
            <a:ext cx="979674" cy="979674"/>
          </a:xfrm>
          <a:prstGeom prst="rect">
            <a:avLst/>
          </a:prstGeom>
        </p:spPr>
      </p:pic>
      <p:pic>
        <p:nvPicPr>
          <p:cNvPr id="13" name="Graphic 12" descr="Care outline">
            <a:extLst>
              <a:ext uri="{FF2B5EF4-FFF2-40B4-BE49-F238E27FC236}">
                <a16:creationId xmlns:a16="http://schemas.microsoft.com/office/drawing/2014/main" id="{5B18FE10-8C54-45E7-7CB5-EE4C6339A3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5999" y="2780928"/>
            <a:ext cx="1094949" cy="1094949"/>
          </a:xfrm>
          <a:prstGeom prst="rect">
            <a:avLst/>
          </a:prstGeom>
        </p:spPr>
      </p:pic>
      <p:pic>
        <p:nvPicPr>
          <p:cNvPr id="15" name="Graphic 14" descr="Map with pin outline">
            <a:extLst>
              <a:ext uri="{FF2B5EF4-FFF2-40B4-BE49-F238E27FC236}">
                <a16:creationId xmlns:a16="http://schemas.microsoft.com/office/drawing/2014/main" id="{C05260C1-3BA4-7C4F-3ED5-CFAA73BE7D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10647" y="2738776"/>
            <a:ext cx="1137101" cy="11371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ABE06D-F44A-F076-2572-27E9183CD61A}"/>
              </a:ext>
            </a:extLst>
          </p:cNvPr>
          <p:cNvSpPr txBox="1"/>
          <p:nvPr/>
        </p:nvSpPr>
        <p:spPr>
          <a:xfrm>
            <a:off x="-4046368" y="3038168"/>
            <a:ext cx="33449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Several regions, each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Set of patients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At least one ferry terminal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r>
              <a:rPr lang="it-IT" dirty="0"/>
              <a:t>Regions are connected by public ferries having fixed timetables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7203D3-A451-4399-EE28-773CE2684F08}"/>
              </a:ext>
            </a:extLst>
          </p:cNvPr>
          <p:cNvSpPr txBox="1"/>
          <p:nvPr/>
        </p:nvSpPr>
        <p:spPr>
          <a:xfrm>
            <a:off x="5232135" y="2951513"/>
            <a:ext cx="33449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Sequence of visits and ferry trips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Qualification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Time priority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158280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9A8A2-4AA0-51B2-107F-858448BFE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4D80EC-F91A-4854-954E-E210B15A758D}"/>
              </a:ext>
            </a:extLst>
          </p:cNvPr>
          <p:cNvSpPr/>
          <p:nvPr/>
        </p:nvSpPr>
        <p:spPr>
          <a:xfrm>
            <a:off x="3739198" y="2099091"/>
            <a:ext cx="2520000" cy="37841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180000" rtlCol="0" anchor="t" anchorCtr="0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Caregivers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843700-D331-C3FA-5A12-3FF32F95A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Primary aspects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ED706-A655-689B-0687-4F858A5A830E}"/>
              </a:ext>
            </a:extLst>
          </p:cNvPr>
          <p:cNvSpPr/>
          <p:nvPr/>
        </p:nvSpPr>
        <p:spPr>
          <a:xfrm>
            <a:off x="1219198" y="2099091"/>
            <a:ext cx="2520000" cy="37841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180000" rtlCol="0" anchor="t" anchorCtr="0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Geographical area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EC206-52FA-26A8-4B52-413552496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BBCE9-BFDF-60B9-AAAC-6281FB7BE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6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26A5E4-E6DD-2F74-47B6-A83A5613C8B6}"/>
              </a:ext>
            </a:extLst>
          </p:cNvPr>
          <p:cNvSpPr/>
          <p:nvPr/>
        </p:nvSpPr>
        <p:spPr>
          <a:xfrm>
            <a:off x="6259198" y="2099092"/>
            <a:ext cx="4715802" cy="37841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180000" rtlCol="0" anchor="t" anchorCtr="0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Patients</a:t>
            </a:r>
            <a:endParaRPr lang="en-GB" b="1" dirty="0">
              <a:solidFill>
                <a:schemeClr val="tx1"/>
              </a:solidFill>
            </a:endParaRPr>
          </a:p>
        </p:txBody>
      </p:sp>
      <p:pic>
        <p:nvPicPr>
          <p:cNvPr id="11" name="Graphic 10" descr="Group of men outline">
            <a:extLst>
              <a:ext uri="{FF2B5EF4-FFF2-40B4-BE49-F238E27FC236}">
                <a16:creationId xmlns:a16="http://schemas.microsoft.com/office/drawing/2014/main" id="{2EF7EB59-1A4B-4CBE-4C6D-2B8D58CED8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72346" y="2838565"/>
            <a:ext cx="979674" cy="979674"/>
          </a:xfrm>
          <a:prstGeom prst="rect">
            <a:avLst/>
          </a:prstGeom>
        </p:spPr>
      </p:pic>
      <p:pic>
        <p:nvPicPr>
          <p:cNvPr id="13" name="Graphic 12" descr="Care outline">
            <a:extLst>
              <a:ext uri="{FF2B5EF4-FFF2-40B4-BE49-F238E27FC236}">
                <a16:creationId xmlns:a16="http://schemas.microsoft.com/office/drawing/2014/main" id="{3AC19B71-F39C-B4AA-4BA3-CF2C07DF65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6509" y="2780928"/>
            <a:ext cx="1094949" cy="1094949"/>
          </a:xfrm>
          <a:prstGeom prst="rect">
            <a:avLst/>
          </a:prstGeom>
        </p:spPr>
      </p:pic>
      <p:pic>
        <p:nvPicPr>
          <p:cNvPr id="15" name="Graphic 14" descr="Map with pin outline">
            <a:extLst>
              <a:ext uri="{FF2B5EF4-FFF2-40B4-BE49-F238E27FC236}">
                <a16:creationId xmlns:a16="http://schemas.microsoft.com/office/drawing/2014/main" id="{33461D58-94BF-507D-DE9B-54089EF92E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10647" y="2738776"/>
            <a:ext cx="1137101" cy="11371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2DA536-F3FC-C89B-1443-0700687325F9}"/>
              </a:ext>
            </a:extLst>
          </p:cNvPr>
          <p:cNvSpPr txBox="1"/>
          <p:nvPr/>
        </p:nvSpPr>
        <p:spPr>
          <a:xfrm>
            <a:off x="-3887996" y="2951513"/>
            <a:ext cx="33449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Sequence of visits and ferry trips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Qualification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Time priority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D5BC8D-D969-E431-2034-1AA0C4D5E895}"/>
              </a:ext>
            </a:extLst>
          </p:cNvPr>
          <p:cNvSpPr txBox="1"/>
          <p:nvPr/>
        </p:nvSpPr>
        <p:spPr>
          <a:xfrm>
            <a:off x="7715363" y="2966462"/>
            <a:ext cx="33449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Number of visits, each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Number of caregivers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Service duration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Occurring in a time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Qualification requirements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79945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E34F5-A81F-19F3-EE6D-59A18AFF2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A354A9-2486-148E-D530-42C60C5CA94C}"/>
              </a:ext>
            </a:extLst>
          </p:cNvPr>
          <p:cNvSpPr/>
          <p:nvPr/>
        </p:nvSpPr>
        <p:spPr>
          <a:xfrm>
            <a:off x="-8224202" y="2099091"/>
            <a:ext cx="2520000" cy="37841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180000" rtlCol="0" anchor="t" anchorCtr="0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Caregivers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2D402C-2B95-E086-08C5-750122DF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Mathematical formulation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4614A-544F-548A-0977-79A746EFC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E3C1D5-7DCC-C546-A616-C31374D3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7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A8B8E1-95F2-5C86-9B5E-E5B4C01A8ABD}"/>
              </a:ext>
            </a:extLst>
          </p:cNvPr>
          <p:cNvSpPr/>
          <p:nvPr/>
        </p:nvSpPr>
        <p:spPr>
          <a:xfrm>
            <a:off x="-10744202" y="2099091"/>
            <a:ext cx="2520000" cy="37841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180000" rtlCol="0" anchor="t" anchorCtr="0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Geographical area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86C11D-6C28-970E-6857-1067DAF63C32}"/>
              </a:ext>
            </a:extLst>
          </p:cNvPr>
          <p:cNvSpPr/>
          <p:nvPr/>
        </p:nvSpPr>
        <p:spPr>
          <a:xfrm>
            <a:off x="-5704202" y="2099092"/>
            <a:ext cx="4715802" cy="37841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180000" rtlCol="0" anchor="t" anchorCtr="0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Patients</a:t>
            </a:r>
            <a:endParaRPr lang="en-GB" b="1" dirty="0">
              <a:solidFill>
                <a:schemeClr val="tx1"/>
              </a:solidFill>
            </a:endParaRPr>
          </a:p>
        </p:txBody>
      </p:sp>
      <p:pic>
        <p:nvPicPr>
          <p:cNvPr id="11" name="Graphic 10" descr="Group of men outline">
            <a:extLst>
              <a:ext uri="{FF2B5EF4-FFF2-40B4-BE49-F238E27FC236}">
                <a16:creationId xmlns:a16="http://schemas.microsoft.com/office/drawing/2014/main" id="{E41FAF27-93E7-0D62-1FBD-5C1B6C0C56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391054" y="2838565"/>
            <a:ext cx="979674" cy="979674"/>
          </a:xfrm>
          <a:prstGeom prst="rect">
            <a:avLst/>
          </a:prstGeom>
        </p:spPr>
      </p:pic>
      <p:pic>
        <p:nvPicPr>
          <p:cNvPr id="13" name="Graphic 12" descr="Care outline">
            <a:extLst>
              <a:ext uri="{FF2B5EF4-FFF2-40B4-BE49-F238E27FC236}">
                <a16:creationId xmlns:a16="http://schemas.microsoft.com/office/drawing/2014/main" id="{E99CCAFC-5BAD-E7B6-7660-5B918A6349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556891" y="2780928"/>
            <a:ext cx="1094949" cy="1094949"/>
          </a:xfrm>
          <a:prstGeom prst="rect">
            <a:avLst/>
          </a:prstGeom>
        </p:spPr>
      </p:pic>
      <p:pic>
        <p:nvPicPr>
          <p:cNvPr id="15" name="Graphic 14" descr="Map with pin outline">
            <a:extLst>
              <a:ext uri="{FF2B5EF4-FFF2-40B4-BE49-F238E27FC236}">
                <a16:creationId xmlns:a16="http://schemas.microsoft.com/office/drawing/2014/main" id="{9AD807AA-AA13-8643-D18B-E28D14D123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0052753" y="2738776"/>
            <a:ext cx="1137101" cy="11371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20A7BB-8BE1-48ED-CF3A-C5A02448C85B}"/>
              </a:ext>
            </a:extLst>
          </p:cNvPr>
          <p:cNvSpPr txBox="1"/>
          <p:nvPr/>
        </p:nvSpPr>
        <p:spPr>
          <a:xfrm>
            <a:off x="-4248037" y="2966462"/>
            <a:ext cx="33449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Number of visits, each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Number of caregivers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Service duration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Occurring in a time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Qualification requirements</a:t>
            </a:r>
          </a:p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D433F08-35FC-4A9E-C675-05F5CB693F25}"/>
                  </a:ext>
                </a:extLst>
              </p:cNvPr>
              <p:cNvSpPr txBox="1"/>
              <p:nvPr/>
            </p:nvSpPr>
            <p:spPr>
              <a:xfrm>
                <a:off x="1147482" y="1997451"/>
                <a:ext cx="92508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GB" sz="2400" dirty="0">
                    <a:ea typeface="Cambria Math" panose="02040503050406030204" pitchFamily="18" charset="0"/>
                  </a:rPr>
                  <a:t>Problem structured as a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</m:d>
                  </m:oMath>
                </a14:m>
                <a:r>
                  <a:rPr lang="it-IT" sz="2400" b="0" dirty="0">
                    <a:ea typeface="Cambria Math" panose="02040503050406030204" pitchFamily="18" charset="0"/>
                  </a:rPr>
                  <a:t>, directed, connected and incomplete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D433F08-35FC-4A9E-C675-05F5CB693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482" y="1997451"/>
                <a:ext cx="9250802" cy="369332"/>
              </a:xfrm>
              <a:prstGeom prst="rect">
                <a:avLst/>
              </a:prstGeom>
              <a:blipFill>
                <a:blip r:embed="rId5"/>
                <a:stretch>
                  <a:fillRect l="-1976" t="-26667" r="-988" b="-5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482D37-069B-D422-6179-E1762A95AEDD}"/>
                  </a:ext>
                </a:extLst>
              </p:cNvPr>
              <p:cNvSpPr txBox="1"/>
              <p:nvPr/>
            </p:nvSpPr>
            <p:spPr>
              <a:xfrm>
                <a:off x="1320799" y="2838565"/>
                <a:ext cx="37592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Given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it-IT" dirty="0">
                    <a:ea typeface="Cambria Math" panose="02040503050406030204" pitchFamily="18" charset="0"/>
                  </a:rPr>
                  <a:t> = set of patients,</a:t>
                </a:r>
              </a:p>
              <a:p>
                <a:r>
                  <a:rPr lang="it-IT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it-IT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>
                    <a:ea typeface="Cambria Math" panose="02040503050406030204" pitchFamily="18" charset="0"/>
                  </a:rPr>
                  <a:t> is the number of visits 	required by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endParaRPr lang="it-IT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it-IT" dirty="0">
                    <a:ea typeface="Cambria Math" panose="02040503050406030204" pitchFamily="18" charset="0"/>
                  </a:rPr>
                  <a:t> = set of ferries,</a:t>
                </a:r>
              </a:p>
              <a:p>
                <a:r>
                  <a:rPr lang="it-IT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it-IT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>
                    <a:ea typeface="Cambria Math" panose="02040503050406030204" pitchFamily="18" charset="0"/>
                  </a:rPr>
                  <a:t> is the number of ferry 	trips departing from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endParaRPr lang="it-IT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482D37-069B-D422-6179-E1762A95A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799" y="2838565"/>
                <a:ext cx="3759200" cy="2308324"/>
              </a:xfrm>
              <a:prstGeom prst="rect">
                <a:avLst/>
              </a:prstGeom>
              <a:blipFill>
                <a:blip r:embed="rId6"/>
                <a:stretch>
                  <a:fillRect l="-1461" t="-1587" r="-14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FAB041-27E5-7F5F-1AF3-63C4321E5A43}"/>
                  </a:ext>
                </a:extLst>
              </p:cNvPr>
              <p:cNvSpPr txBox="1"/>
              <p:nvPr/>
            </p:nvSpPr>
            <p:spPr>
              <a:xfrm>
                <a:off x="5827060" y="2711152"/>
                <a:ext cx="5498353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Each node in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</m:oMath>
                </a14:m>
                <a:r>
                  <a:rPr lang="en-GB" dirty="0"/>
                  <a:t> is represented by a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it-IT" dirty="0"/>
              </a:p>
              <a:p>
                <a:r>
                  <a:rPr lang="en-GB" dirty="0"/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GB" dirty="0"/>
                  <a:t> patient visit </a:t>
                </a:r>
                <a:r>
                  <a:rPr lang="en-GB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{1, …,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GB" dirty="0"/>
              </a:p>
              <a:p>
                <a:r>
                  <a:rPr lang="en-GB" dirty="0"/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GB" dirty="0"/>
                  <a:t> ferry trip</a:t>
                </a:r>
                <a:r>
                  <a:rPr lang="en-GB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it-IT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…,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it-IT" dirty="0">
                  <a:ea typeface="Cambria Math" panose="02040503050406030204" pitchFamily="18" charset="0"/>
                </a:endParaRPr>
              </a:p>
              <a:p>
                <a:endParaRPr lang="en-GB" dirty="0"/>
              </a:p>
              <a:p>
                <a:r>
                  <a:rPr lang="en-GB" dirty="0"/>
                  <a:t>Each arc in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GB" dirty="0"/>
                  <a:t> is denoted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it-IT" dirty="0"/>
              </a:p>
              <a:p>
                <a:r>
                  <a:rPr lang="en-GB" dirty="0"/>
                  <a:t>	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GB" dirty="0"/>
                  <a:t> patient visit/</a:t>
                </a:r>
                <a:r>
                  <a:rPr lang="en-GB" dirty="0" err="1"/>
                  <a:t>hc</a:t>
                </a:r>
                <a:r>
                  <a:rPr lang="en-GB" dirty="0"/>
                  <a:t> node </a:t>
                </a:r>
                <a:r>
                  <a:rPr lang="en-GB" dirty="0">
                    <a:sym typeface="Wingdings" panose="05000000000000000000" pitchFamily="2" charset="2"/>
                  </a:rPr>
                  <a:t> represents a direct 		travel from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it-IT" b="0" dirty="0"/>
              </a:p>
              <a:p>
                <a:r>
                  <a:rPr lang="en-GB" dirty="0"/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GB" dirty="0"/>
                  <a:t> ferry trip </a:t>
                </a:r>
                <a:r>
                  <a:rPr lang="en-GB" dirty="0">
                    <a:sym typeface="Wingdings" panose="05000000000000000000" pitchFamily="2" charset="2"/>
                  </a:rPr>
                  <a:t> represents travel from from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it-IT" dirty="0"/>
                  <a:t> 	passing through destination terminal of that ferry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FAB041-27E5-7F5F-1AF3-63C4321E5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060" y="2711152"/>
                <a:ext cx="5498353" cy="2862322"/>
              </a:xfrm>
              <a:prstGeom prst="rect">
                <a:avLst/>
              </a:prstGeom>
              <a:blipFill>
                <a:blip r:embed="rId7"/>
                <a:stretch>
                  <a:fillRect l="-998" t="-1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86506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CE548-DE61-8F0E-B93D-DB6CF90B6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Mathematical formulation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8A723-A62E-12F0-FB29-1152E23B7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Decision variables</a:t>
            </a:r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  <a:p>
            <a:r>
              <a:rPr lang="it-IT" b="1" dirty="0"/>
              <a:t>Objective function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C0434-C854-D1A2-28A2-792AF7A8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212D2-9814-484F-CB2C-C0C944329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0EB66B-8B34-9C66-6A0D-6E3F741FC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84" y="1962139"/>
            <a:ext cx="6214273" cy="1724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229181-D852-6B13-1742-1019D42F7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7907" y="3888211"/>
            <a:ext cx="2398093" cy="81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0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B31F4-194D-1816-436E-156C176C8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1664B-DF00-708B-4F50-6D5DC297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Mathematical formulation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0519A-37D1-E30A-D572-4EBD2BEDB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Routing constraints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A4BFB-B1E1-F350-E57C-0C2840C3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93F65-BDAB-C167-CB98-5B3471EE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9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AB3CFB-272F-0B80-D60B-79EA7ED714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01"/>
          <a:stretch>
            <a:fillRect/>
          </a:stretch>
        </p:blipFill>
        <p:spPr>
          <a:xfrm>
            <a:off x="3989366" y="2130524"/>
            <a:ext cx="5838868" cy="345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335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E4F90-43A2-A730-C2B4-988FA0DFC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396DD-8A7E-AAC9-7C28-E0386D266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Mathematical formulation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38779-A9F2-7A69-8DBE-BC1F82E8C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 Scheduling constraints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E17A0C-AC02-A477-76FC-7C446CCC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0737E-B10D-E2FB-A4A1-59115888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10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645BF9-23C3-3CD2-2491-7FA45D5EA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79" y="2646466"/>
            <a:ext cx="5716506" cy="2474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4F5FDD-47E2-AA87-03F7-B9185963E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470" y="1881155"/>
            <a:ext cx="5506575" cy="395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050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42648-D2E6-9202-D990-D26D02C75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Two-phase solution method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530262-2796-AECF-06FE-C3408F9CC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F9491-464F-5BA7-D897-5064BC7D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11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B7D62D-F465-9921-35BE-98763875B0C8}"/>
              </a:ext>
            </a:extLst>
          </p:cNvPr>
          <p:cNvSpPr txBox="1"/>
          <p:nvPr/>
        </p:nvSpPr>
        <p:spPr>
          <a:xfrm>
            <a:off x="914998" y="1945341"/>
            <a:ext cx="1042296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Based on </a:t>
            </a:r>
            <a:r>
              <a:rPr lang="it-IT" sz="2000" b="1" dirty="0"/>
              <a:t>Weighted Proximity Search </a:t>
            </a:r>
          </a:p>
          <a:p>
            <a:endParaRPr lang="it-IT" sz="2000" dirty="0"/>
          </a:p>
          <a:p>
            <a:r>
              <a:rPr lang="it-IT" sz="2000" b="1" dirty="0"/>
              <a:t>Proximity Search (PS): </a:t>
            </a:r>
            <a:r>
              <a:rPr lang="it-IT" sz="2000" dirty="0"/>
              <a:t>matheuristic designed to improve a known feasible solution to a mixed-integer programming problem; iteratively: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Cut-off constraint addedd </a:t>
            </a:r>
            <a:r>
              <a:rPr lang="it-IT" sz="2000" dirty="0">
                <a:sym typeface="Wingdings" panose="05000000000000000000" pitchFamily="2" charset="2"/>
              </a:rPr>
              <a:t> exlude solutions not outperforming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ym typeface="Wingdings" panose="05000000000000000000" pitchFamily="2" charset="2"/>
              </a:rPr>
              <a:t>Objective function replaced with a Hamming distance function  # differing 0-1 variables between candidate and incumbent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ym typeface="Wingdings" panose="05000000000000000000" pitchFamily="2" charset="2"/>
              </a:rPr>
              <a:t>Minimize that function  search toward solutions in the vicinity of the incumbent</a:t>
            </a:r>
          </a:p>
        </p:txBody>
      </p:sp>
    </p:spTree>
    <p:extLst>
      <p:ext uri="{BB962C8B-B14F-4D97-AF65-F5344CB8AC3E}">
        <p14:creationId xmlns:p14="http://schemas.microsoft.com/office/powerpoint/2010/main" val="2237263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BA571-F473-D361-244F-49D673B9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DD24-B7B2-DEBA-75AC-08FF1E9D6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Two-phase solution method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F2DAA9-35AC-F837-2902-E2CC7B1ED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7B8390-332D-55A3-DCEB-688087127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12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FB010-6908-C95B-A144-90BD867430D7}"/>
              </a:ext>
            </a:extLst>
          </p:cNvPr>
          <p:cNvSpPr txBox="1"/>
          <p:nvPr/>
        </p:nvSpPr>
        <p:spPr>
          <a:xfrm>
            <a:off x="914998" y="1945341"/>
            <a:ext cx="104229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Based on </a:t>
            </a:r>
            <a:r>
              <a:rPr lang="it-IT" sz="2000" b="1" dirty="0"/>
              <a:t>Weighted Proximity Search</a:t>
            </a:r>
          </a:p>
          <a:p>
            <a:endParaRPr lang="it-IT" sz="2000" dirty="0">
              <a:sym typeface="Wingdings" panose="05000000000000000000" pitchFamily="2" charset="2"/>
            </a:endParaRPr>
          </a:p>
          <a:p>
            <a:r>
              <a:rPr lang="it-IT" sz="2000" b="1" dirty="0">
                <a:sym typeface="Wingdings" panose="05000000000000000000" pitchFamily="2" charset="2"/>
              </a:rPr>
              <a:t>Weighted Proximity Search (WPS): </a:t>
            </a:r>
            <a:r>
              <a:rPr lang="it-IT" sz="2000" dirty="0">
                <a:sym typeface="Wingdings" panose="05000000000000000000" pitchFamily="2" charset="2"/>
              </a:rPr>
              <a:t>replaces the standard Hamming distance function with a weighted version; differentiated penalization: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/>
              <a:t>Lower weights </a:t>
            </a:r>
            <a:r>
              <a:rPr lang="it-IT" sz="2000" dirty="0">
                <a:sym typeface="Wingdings" panose="05000000000000000000" pitchFamily="2" charset="2"/>
              </a:rPr>
              <a:t> variables more promising to change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ym typeface="Wingdings" panose="05000000000000000000" pitchFamily="2" charset="2"/>
              </a:rPr>
              <a:t>Higher weights  variables expected to remain fixed</a:t>
            </a:r>
            <a:endParaRPr lang="it-I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666712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C01B8-6214-E496-07B2-708B72A28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1F787-F9F3-EBA0-1A80-EFA6796FB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Two-phase solution method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64C5E-0998-B241-64B7-9A27171F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820292-F365-A558-4318-B3A50C9FC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13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AE14F9-307A-8E3D-4666-81DC88B262B1}"/>
                  </a:ext>
                </a:extLst>
              </p:cNvPr>
              <p:cNvSpPr txBox="1"/>
              <p:nvPr/>
            </p:nvSpPr>
            <p:spPr>
              <a:xfrm>
                <a:off x="914998" y="1945341"/>
                <a:ext cx="10422964" cy="3391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b="1" dirty="0"/>
                  <a:t>Phase I: </a:t>
                </a:r>
                <a:r>
                  <a:rPr lang="it-IT" sz="2000" dirty="0"/>
                  <a:t>Feasible solution construction</a:t>
                </a:r>
              </a:p>
              <a:p>
                <a:endParaRPr lang="it-IT" sz="20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Initialization step: arrange the sequence of patients by region and the sequence of visits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Solve with the MILP solver a resticted version of the original problem, represented by subgraph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it-IT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𝒢</m:t>
                        </m:r>
                      </m:e>
                    </m:bar>
                    <m:r>
                      <a:rPr lang="it-IT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it-I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it-IT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𝒩</m:t>
                            </m:r>
                          </m:e>
                        </m:bar>
                        <m:r>
                          <a:rPr lang="it-I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bar>
                          <m:barPr>
                            <m:ctrlPr>
                              <a:rPr lang="it-IT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𝒜</m:t>
                            </m:r>
                          </m:e>
                        </m:bar>
                      </m:e>
                    </m:d>
                  </m:oMath>
                </a14:m>
                <a:endParaRPr lang="it-IT" sz="2000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Iterative process, done until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it-I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𝒢</m:t>
                        </m:r>
                      </m:e>
                    </m:bar>
                  </m:oMath>
                </a14:m>
                <a:r>
                  <a:rPr lang="it-IT" sz="2000" dirty="0"/>
                  <a:t> corresponds to the original graph: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it-I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𝒢</m:t>
                        </m:r>
                      </m:e>
                    </m:bar>
                  </m:oMath>
                </a14:m>
                <a:r>
                  <a:rPr lang="it-IT" sz="2000" dirty="0"/>
                  <a:t> expanded integrating nodes and arcs not yet explored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Solve the expanded problem directing the solver to search close to the last obtained partial solution (weighted Hamming distance function); </a:t>
                </a:r>
                <a:r>
                  <a:rPr lang="it-IT" sz="2000" dirty="0">
                    <a:sym typeface="Wingdings" panose="05000000000000000000" pitchFamily="2" charset="2"/>
                  </a:rPr>
                  <a:t>stops when finds one</a:t>
                </a:r>
                <a:endParaRPr lang="it-IT" sz="2000" dirty="0"/>
              </a:p>
              <a:p>
                <a:endParaRPr lang="en-GB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AE14F9-307A-8E3D-4666-81DC88B26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98" y="1945341"/>
                <a:ext cx="10422964" cy="3391121"/>
              </a:xfrm>
              <a:prstGeom prst="rect">
                <a:avLst/>
              </a:prstGeom>
              <a:blipFill>
                <a:blip r:embed="rId2"/>
                <a:stretch>
                  <a:fillRect l="-585" t="-899" r="-7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4579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DE17C-2634-CDB8-F252-A10B1F51D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0E06E-E2DE-385C-CBC5-CA4B84E10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Two-phase solution method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7B1A7-141D-E216-DC45-A9766E13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1A2E8-8E1A-EF4D-87D4-45136E44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14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9069D3-B8F3-622E-7299-B3EB05126D56}"/>
                  </a:ext>
                </a:extLst>
              </p:cNvPr>
              <p:cNvSpPr txBox="1"/>
              <p:nvPr/>
            </p:nvSpPr>
            <p:spPr>
              <a:xfrm>
                <a:off x="914998" y="1945341"/>
                <a:ext cx="10422964" cy="2617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b="1" dirty="0"/>
                  <a:t>Phase II: </a:t>
                </a:r>
                <a:r>
                  <a:rPr lang="it-IT" sz="2000" dirty="0"/>
                  <a:t>Solution refinement</a:t>
                </a:r>
                <a:endParaRPr lang="it-IT" sz="2000" b="1" dirty="0"/>
              </a:p>
              <a:p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Solve the original problem fixed by solution found in Phase I to obtain a bound cost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Iterative process, done until a best feasible solution is found: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Solve the complete problem replacing the objective function with the weighted Hamming distance one and adding a cut-off constraint (solution has to be better than the last found)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When a solution is found, the optimal bound is updated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GB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9069D3-B8F3-622E-7299-B3EB05126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98" y="1945341"/>
                <a:ext cx="10422964" cy="2617383"/>
              </a:xfrm>
              <a:prstGeom prst="rect">
                <a:avLst/>
              </a:prstGeom>
              <a:blipFill>
                <a:blip r:embed="rId2"/>
                <a:stretch>
                  <a:fillRect l="-585" t="-11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9171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AEC4C-DEB6-7D8A-E171-936AA1764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3593A4F-E767-C98A-0227-42F26B5557A5}"/>
              </a:ext>
            </a:extLst>
          </p:cNvPr>
          <p:cNvSpPr/>
          <p:nvPr/>
        </p:nvSpPr>
        <p:spPr>
          <a:xfrm>
            <a:off x="6849038" y="3045426"/>
            <a:ext cx="3726764" cy="31641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666070-562A-E3E0-A936-F2AF8100B37B}"/>
              </a:ext>
            </a:extLst>
          </p:cNvPr>
          <p:cNvSpPr/>
          <p:nvPr/>
        </p:nvSpPr>
        <p:spPr>
          <a:xfrm>
            <a:off x="5994400" y="2599765"/>
            <a:ext cx="3526118" cy="3222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547006-F1EE-1DA4-6425-D4664E936A4B}"/>
              </a:ext>
            </a:extLst>
          </p:cNvPr>
          <p:cNvSpPr/>
          <p:nvPr/>
        </p:nvSpPr>
        <p:spPr>
          <a:xfrm>
            <a:off x="962208" y="3244885"/>
            <a:ext cx="5014259" cy="19128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1E6EE9-4088-8A14-F46B-BB4FA8143EF4}"/>
              </a:ext>
            </a:extLst>
          </p:cNvPr>
          <p:cNvSpPr/>
          <p:nvPr/>
        </p:nvSpPr>
        <p:spPr>
          <a:xfrm>
            <a:off x="2623671" y="2599765"/>
            <a:ext cx="2767105" cy="3612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98B03-0991-1A8B-5203-9391B136D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Two-phase solution method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8268B-ECAC-ED08-60AD-773B4A780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Mathematical Optimisation Project - Castelli, Grandi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3028C-6309-25C8-7F63-56DDD234A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93694-562D-4093-A9B7-5B13DC8BF052}" type="slidenum">
              <a:rPr lang="en-GB" smtClean="0"/>
              <a:t>15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151F38-66B8-8074-3562-30AD972CE3EA}"/>
              </a:ext>
            </a:extLst>
          </p:cNvPr>
          <p:cNvSpPr txBox="1"/>
          <p:nvPr/>
        </p:nvSpPr>
        <p:spPr>
          <a:xfrm>
            <a:off x="914998" y="1945341"/>
            <a:ext cx="104229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/>
              <a:t>Weight calculations</a:t>
            </a:r>
          </a:p>
          <a:p>
            <a:endParaRPr lang="it-IT" sz="2000" dirty="0"/>
          </a:p>
          <a:p>
            <a:r>
              <a:rPr lang="it-IT" sz="2000" dirty="0"/>
              <a:t>Combination of linear relaxation proximity and a three-value discretization system</a:t>
            </a:r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10CC25-5F5B-9C5B-7AF4-3645AABE6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47" y="3429000"/>
            <a:ext cx="4660844" cy="15232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8562DB-69B3-EBB2-9446-FD492EB3E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420" y="3174961"/>
            <a:ext cx="3391548" cy="11470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320B47-724B-575C-4949-098D08940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420" y="5002103"/>
            <a:ext cx="2781320" cy="10382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2D9C3D-5993-D08A-2DAF-AE61EC5E8D33}"/>
              </a:ext>
            </a:extLst>
          </p:cNvPr>
          <p:cNvSpPr txBox="1"/>
          <p:nvPr/>
        </p:nvSpPr>
        <p:spPr>
          <a:xfrm>
            <a:off x="6938684" y="4512230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and finally: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55532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1506</TotalTime>
  <Words>784</Words>
  <Application>Microsoft Office PowerPoint</Application>
  <PresentationFormat>Widescreen</PresentationFormat>
  <Paragraphs>146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Cambria Math</vt:lpstr>
      <vt:lpstr>Wingdings</vt:lpstr>
      <vt:lpstr>Retrospect</vt:lpstr>
      <vt:lpstr>Optimization for the Home Healthcare Routing and Scheduling Problem</vt:lpstr>
      <vt:lpstr>Problem</vt:lpstr>
      <vt:lpstr>Primary aspects</vt:lpstr>
      <vt:lpstr>Primary aspects</vt:lpstr>
      <vt:lpstr>Primary aspects</vt:lpstr>
      <vt:lpstr>Primary aspects</vt:lpstr>
      <vt:lpstr>Mathematical formulation</vt:lpstr>
      <vt:lpstr>Mathematical formulation</vt:lpstr>
      <vt:lpstr>Mathematical formulation</vt:lpstr>
      <vt:lpstr>Mathematical formulation</vt:lpstr>
      <vt:lpstr>Two-phase solution method</vt:lpstr>
      <vt:lpstr>Two-phase solution method</vt:lpstr>
      <vt:lpstr>Two-phase solution method</vt:lpstr>
      <vt:lpstr>Two-phase solution method</vt:lpstr>
      <vt:lpstr>Two-phase solution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GRANDI ELISABETTA [IN2300046]</dc:creator>
  <cp:lastModifiedBy>GRANDI ELISABETTA [IN2300046]</cp:lastModifiedBy>
  <cp:revision>6</cp:revision>
  <dcterms:created xsi:type="dcterms:W3CDTF">2026-07-15T14:58:43Z</dcterms:created>
  <dcterms:modified xsi:type="dcterms:W3CDTF">2026-07-16T16:05:34Z</dcterms:modified>
</cp:coreProperties>
</file>